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A8D6"/>
                </a:solidFill>
                <a:latin typeface="Tahoma"/>
                <a:cs typeface="Tahoma"/>
                <a:ea typeface="Tahoma"/>
              </a:rPr>
              <a:t>ธนาคารออมสิน · GSB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EC9CC8"/>
                </a:solidFill>
                <a:latin typeface="Tahoma"/>
                <a:cs typeface="Tahoma"/>
                <a:ea typeface="Tahoma"/>
              </a:rPr>
              <a:t>ปิดการขาย + ย้ายแพลตฟอร์ม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8C2CE"/>
                </a:solidFill>
                <a:latin typeface="Tahoma"/>
                <a:cs typeface="Tahoma"/>
                <a:ea typeface="Tahoma"/>
              </a:rPr>
              <a:t>ระบบงานสลากธนโชค · หารือกับเจ้าของระบบ · ฉบับร่างเพื่อหารือ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วาระการประชุม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0584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1. สถานะใหม่ของระบบ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ปิดการขาย + ย้ายแพลตฟอร์ม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2. ย้ายจากอะไร ไปเป็นอะไร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AS IS / TO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3. ทบทวนฟังก์ชัน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ย้ายแค่ไหนก็พอ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4. ความเสี่ยง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ความถูกต้องของเงินลูกค้าคือหัวใจ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5. ตัวอย่างหน้าจอโหมดจ่ายคืน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ใช้เป็นสเปกตั้งต้นของระบบใหม่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6. แผนงาน 5 เฟส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ความปลอดภัยก่อน ย้ายทีหลัง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7. สิ่งที่ต้องการให้ตัดสินใจ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5 ข้อที่ต้องได้คำตอบ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สถานะใหม่ของระบบ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สลากธนโชคปิดการขายแล้ว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1143000"/>
          </a:xfrm>
          <a:prstGeom prst="roundRect">
            <a:avLst/>
          </a:prstGeom>
          <a:solidFill>
            <a:srgbClr val="F7ECC8"/>
          </a:solidFill>
          <a:ln w="17780">
            <a:solidFill>
              <a:srgbClr val="B98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44752"/>
            <a:ext cx="10424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ระบบเข้าสู่ </a:t>
            </a:r>
            <a:r>
              <a:rPr sz="170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โหมดจ่ายคืน (Run-off)</a:t>
            </a:r>
            <a:r>
              <a:rPr sz="17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 — ไม่มีการขายใหม่ เหลือเพียงรอผู้ถือสลากมาถอน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และ </a:t>
            </a:r>
            <a:r>
              <a:rPr sz="1700" b="1">
                <a:solidFill>
                  <a:srgbClr val="234D80"/>
                </a:solidFill>
                <a:latin typeface="Tahoma"/>
                <a:cs typeface="Tahoma"/>
                <a:ea typeface="Tahoma"/>
              </a:rPr>
              <a:t>มีมติย้ายแพลตฟอร์มแล้ว</a:t>
            </a:r>
            <a:r>
              <a:rPr sz="17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 — ไป Linux + Docker + PostgreSQL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สองงานใหญ่นี้เกิดพร้อมกัน ต้องวางลำดับให้ชัด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สิ่งนี้เปลี่ยนอะไรบ้าง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18872" cy="65836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927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ขอบเขตลดลงมาก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ย้ายเฉพาะ 8 ฟังก์ชันที่ยังใช้จริง ไม่ต้องยกไปทั้งระบบ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50208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50208"/>
            <a:ext cx="118872" cy="65836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690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รันไทม์เก่าแก้ที่ต้นเหตุ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การย้ายแพลตฟอร์มแก้ปัญหา Java/GlassFish หมดการสนับสนุน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0016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700016"/>
            <a:ext cx="118872" cy="658368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1888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ความเสี่ยงย้ายไปอยู่ที่ข้อมูล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MS SQL → PostgreSQL ต้องพิสูจน์ว่ายอดเงินตรงทุกบาท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49824"/>
            <a:ext cx="11091672" cy="65836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449824"/>
            <a:ext cx="118872" cy="658368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6869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ความปลอดภัยรอไม่ได้</a:t>
            </a:r>
            <a:r>
              <a:rPr sz="14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การย้ายใช้เวลาหลายเดือน ต้องแก้รหัสผ่านบนระบบเดิมทันที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การย้ายแพลตฟอร์ม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ย้ายจากอะไร ไปเป็นอะไร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194560" cy="45720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4297680" cy="45720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760" y="1371600"/>
            <a:ext cx="4416552" cy="4572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ด้าน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444752"/>
            <a:ext cx="4023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AS IS — ระบบเดิม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1444752"/>
            <a:ext cx="41422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TO BE — แพลตฟอร์มใหม่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1828800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1828800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856231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ระบบปฏิบัติการ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1856231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Windows Server 2019 (2 เครื่อง)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856231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Linux (Ubuntu) + Docker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04872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2404872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2404872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432303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ฐานข้อมูล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432303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MS SQL Server 2019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432303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PostgreSQL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8094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34640" y="2980944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3760" y="2980944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008375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รันไทม์แอป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3008375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Java 1.6 + GlassFish (หมดการสนับสนุน)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008375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บริการแยก container ที่ยังได้รับแพตช์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57015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34640" y="3557015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3760" y="3557015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84447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ตรรกะธุรกิจ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3584447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อยู่ใน Stored Procedure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584447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ย้ายมาอยู่ในชั้นแอป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33087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4640" y="4133087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3760" y="4133087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160520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ขอบเขตที่ต้องย้าย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4160520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21 ฟังก์ชัน รวมงานขายที่เลิกใช้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4160520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เฉพาะ 8 ฟังก์ชันที่ยังใช้จริง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709159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34640" y="4709159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0" y="4709159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736592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งานส่งข้อมูลออก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736592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งานตามเวลาแบบ Windows (.bat)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736592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แบบ Linux (.sh) หรือยกเลิกทั้งชุด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285231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34640" y="5285231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223760" y="5285231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312664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ความถูกต้องของข้อมูล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1800" y="5312664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5312664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กระทบยอดทุกบาท + รันคู่ขนานก่อน cutover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ทบทวนฟังก์ชัน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ทบทวนฟังก์ชันทั้งหมด 21 รายการ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แบ่งตามว่าฟังก์ชันนั้นยังจำเป็นต่อการจ่ายคืนหรือไม่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575304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คงไว้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จำเป็นต่อการจ่ายคืน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828800"/>
            <a:ext cx="3575304" cy="10972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4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234D80"/>
                </a:solidFill>
                <a:latin typeface="Tahoma"/>
                <a:cs typeface="Tahoma"/>
                <a:ea typeface="Tahoma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ตัดออก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ไม่มีการขายแล้ว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828800"/>
            <a:ext cx="3575304" cy="19202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828800"/>
            <a:ext cx="3575304" cy="10972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2148840"/>
            <a:ext cx="35753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297180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รอตัดสินใจ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337560"/>
            <a:ext cx="33009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ขึ้นกับนโยบาย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คงไว้ — 8 ฟังก์ชันที่ระบบยังต้องทำได้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ขอบเขตขั้นต่ำที่ระบบต้องทำได้จนกว่าจะปิดระบบจริง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A1 · ค้นหาผู้ถือสลาก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จุดเริ่มต้นของทุกเคสเมื่อลูกค้าเข้าสาขา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2706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2706" y="214884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8738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A2 · แสดงยอดที่ต้องจ่ายคืน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8738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เงินต้น + สิทธิ์ค้างจ่าย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6772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214884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2804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A3 · บันทึกการถอน/จ่ายคืน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2804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ธุรกรรมเดียวที่ยังเกิดขึ้นจริง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0838" y="214884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0838" y="2148840"/>
            <a:ext cx="118872" cy="13716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6869" y="229514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A4 · ตรวจเงินรางวัลค้างจ่าย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6869" y="306324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งวดเก่าที่ยังไม่มีผู้มารับ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0332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A5 · ประวัติธุรกรรม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หลักฐานการจ่ายคืนและการตรวจสอบ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2706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2706" y="370332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8738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A6 · รายงานยอดคงค้าง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8738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ภาระผูกพันที่เหลือของฝ่ายบัญชี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6772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6772" y="370332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2804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A7 · งานปิด/ย้ายสาขา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04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สาขาทยอยปิด ต้องย้ายข้อมูลผู้ถือ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90838" y="3703320"/>
            <a:ext cx="2649474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90838" y="3703320"/>
            <a:ext cx="118872" cy="13716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46869" y="3849624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A8 · จัดการสิทธิ์ผู้ใช้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6869" y="4617720"/>
            <a:ext cx="228371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ควบคุมว่าใครจ่ายเงินได้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ตัดออก — 7 ฟังก์ชันที่ไม่มีความหมายแล้ว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4170948" cy="41148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39423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ฟังก์ชัน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5308" y="1417320"/>
            <a:ext cx="3529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02468" y="1463040"/>
            <a:ext cx="3300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เหตุผล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40310" y="1417320"/>
            <a:ext cx="3254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7470" y="1463040"/>
            <a:ext cx="3025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วิธีจัดการ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856231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ขาย/ซื้อสลากใหม่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5308" y="1828800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2468" y="1856231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ไม่เปิดขายแล้ว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40310" y="1828800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7470" y="1856231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ปิดเมนู + ปิดสิทธิ์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49285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476717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ฝากสลากเพิ่ม / ต่ออายุ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65308" y="2449285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02468" y="2476717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ไม่มีการเพิ่มยอดอีก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40310" y="2449285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7470" y="2476717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ปิดเมนู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9771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097203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จัดสรรและออกเลขสลาก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65308" y="3069771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2468" y="3097203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ไม่มีสลากใหม่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40310" y="3069771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7470" y="3097203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 + หยุด job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690257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717689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ประมวลผลออกรางวัลงวดใหม่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65308" y="3690257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2468" y="3717689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ไม่มีงวดใหม่แล้ว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0310" y="3690257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7470" y="3717689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 แต่เก็บผลงวดเก่าไว้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10742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338174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รายงานยอดขาย / เป้า / อันดับสาขา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65308" y="4310742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2468" y="4338174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ไม่มีการขายให้วัด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0310" y="4310742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7470" y="4338174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ปิดรายงาน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931228"/>
            <a:ext cx="4170948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958660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ตัวเลขการขายบนหน้าภาพรวม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65308" y="4931228"/>
            <a:ext cx="3529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2468" y="4958660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ไม่มีความหมายแล้ว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40310" y="4931228"/>
            <a:ext cx="3254281" cy="620485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77470" y="4958660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เปลี่ยนเป็นตัวเลขการจ่ายคืน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551714"/>
            <a:ext cx="4170948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5579146"/>
            <a:ext cx="3942348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งานพิมพ์/จัดส่งสลาก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65308" y="5551714"/>
            <a:ext cx="3529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02468" y="5579146"/>
            <a:ext cx="3300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ไม่มีสลากใหม่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40310" y="5551714"/>
            <a:ext cx="3254281" cy="62048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77470" y="5579146"/>
            <a:ext cx="3025681" cy="6204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ปิดงาน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640" y="6053328"/>
            <a:ext cx="11091672" cy="566928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605332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สำคัญ: </a:t>
            </a:r>
            <a:r>
              <a:rPr sz="13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"ตัดออก" คือปิดการใช้งานและปิดสิทธิ์เท่านั้น — ห้ามลบข้อมูลเดิม ยังต้องเก็บเพื่อการตรวจสอบและการจ่ายคืน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กลุ่ม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รอตัดสินใจ — 6 ประเด็นที่ต้องให้เจ้าของระบบชี้ขาด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620948" cy="41148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33923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ประเด็น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5308" y="1417320"/>
            <a:ext cx="4079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468" y="1463040"/>
            <a:ext cx="3850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ทางเลือก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40310" y="1417320"/>
            <a:ext cx="3254281" cy="41148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7470" y="1463040"/>
            <a:ext cx="302568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ผลต่อขอบเขตงาน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8562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โอนสลาก / กรณีทายาท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08" y="1828800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468" y="18562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คงไว้เฉพาะมรดก หรือใช้เอกสารแทน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40310" y="1828800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7470" y="18562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ถ้าคงไว้ ต้องคงหน้าจอโอน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527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5801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การส่งข้อมูลออก (Feed)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15308" y="25527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2468" y="25801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ปลายทางยังต้องการไหม · ลดความถี่ได้ไหม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40310" y="25527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7470" y="25801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ถ้าเลิกส่ง ตัดได้ทั้งชุด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76599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304031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การคิดผลตอบแทน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5308" y="3276599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52468" y="3304031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เดินต่อจนวันถอน หรือหยุด ณ วันที่กำหนด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40310" y="3276599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7470" y="3304031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กระทบสูตรคำนวณยอดจ่ายคืน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0005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279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ติดตามผู้ถือที่ยังไม่มาถอน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08" y="40005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52468" y="40279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มีแคมเปญตามตัวไหม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0310" y="40005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7470" y="40279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ถ้ามี ต้องเพิ่มรายงานติดตาม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724400"/>
            <a:ext cx="3620948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7518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เงินที่ไม่มีผู้มาถอน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5308" y="4724400"/>
            <a:ext cx="4079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52468" y="47518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จัดการตามระเบียบอย่างไร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0310" y="4724400"/>
            <a:ext cx="3254281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7470" y="47518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ต้องมีขั้นตอนและรายงานรองรับ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448300"/>
            <a:ext cx="3620948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475732"/>
            <a:ext cx="3392348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กำหนดวันปิดระบบ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08" y="5448300"/>
            <a:ext cx="4079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52468" y="5475732"/>
            <a:ext cx="3850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มีกำหนดชัด หรือรอจนผู้ถือหมด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40310" y="5448300"/>
            <a:ext cx="3254281" cy="723900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77470" y="5475732"/>
            <a:ext cx="3025681" cy="723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เป็นตัวกำหนดว่าจะลงทุนแค่ไหน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ความเสี่ยง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3 เรื่องที่ต้องจัดการก่อน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ความเสี่ยงใหญ่ที่สุดย้ายจาก 'รันไทม์เก่า' ไปเป็น 'ความถูกต้องของข้อมูลตอนย้าย' — เพราะระบบนี้เก็บเงินลูกค้า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64208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รหัสผ่านเริ่มต้นถูกใช้ซ้ำทุกเครื่องและเก็บไว้ในเอกสาร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94560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บัญชีผู้ดูแลของทั้งสองเครื่องใช้รหัสผ่านชุดเดียวกัน และถูกบันทึกในเอกสารที่เปิดอ่านได้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633472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ต้องแก้บนระบบเดิมทันที ไม่ต้องรอการย้าย เพราะการย้ายใช้เวลาหลายเดือน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36976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36976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3493008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9300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3649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การย้ายข้อมูล MS SQL →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767328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ตรรกะอยู่ใน Stored Procedure ซึ่งย้ายตรง ๆ ไม่ได้ ต้องเขียนใหม่และพิสูจน์ว่าให้ผลเหมือนเดิม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4206240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หากคำนวณเพี้ยน = จ่ายคืนผิดจำนวน แก้ย้อนหลังยาก ต้องกระทบยอดทุกบาท + รันคู่ขนานก่อน cutover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09744"/>
            <a:ext cx="11091672" cy="146304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809744"/>
            <a:ext cx="128016" cy="146304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065776"/>
            <a:ext cx="548640" cy="548640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657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4937759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ทำสองงานใหญ่พร้อมกันบนทีมเดียว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5340096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ระบบกำลังปิดตัวและย้ายแพลตฟอร์มไปพร้อมกัน ขณะที่สาขาก็ทยอยปิด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779008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ต้องเรียงลำดับให้ชัด — ความปลอดภัยก่อน ย้ายแพลตฟอร์มทีหลัง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1 · ภาพรวมการจ่ายคืน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เปลี่ยนจากวัด 'การขาย' มาวัดความคืบหน้าการจ่ายคืน — เหลืออีกเท่าไร และอีกนานแค่ไหนจะปิดระบบได้</a:t>
            </a:r>
          </a:p>
        </p:txBody>
      </p:sp>
      <p:pic>
        <p:nvPicPr>
          <p:cNvPr id="8" name="Picture 7" descr="screen1-payou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2 · ค้นหาผู้ถือสลาก และจ่ายคืน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หน้าจอที่สำคัญที่สุดในโหมดนี้ — ค้นหา ตรวจยอดที่ต้องจ่าย แล้วบันทึกการจ่ายคืนจบในหน้าเดียว</a:t>
            </a:r>
          </a:p>
        </p:txBody>
      </p:sp>
      <p:pic>
        <p:nvPicPr>
          <p:cNvPr id="8" name="Picture 7" descr="screen2-search-p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ตัวอย่างหน้าจอโหมดจ่ายคืน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3 · รายงานความคืบหน้าการจ่ายคืน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หน้าจอใหม่แทนหน้าติดตาม Feed — เหลือผู้ถือกี่ราย สาขาไหนช้า และควรกำหนดวันปิดระบบเมื่อใด</a:t>
            </a:r>
          </a:p>
        </p:txBody>
      </p:sp>
      <p:pic>
        <p:nvPicPr>
          <p:cNvPr id="8" name="Picture 7" descr="screen3-progress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แผนงาน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แผนงาน 5 เฟส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หลักการ: ความปลอดภัยก่อน · ย้ายแพลตฟอร์มทีหลัง — เพราะการย้ายใช้เวลาหลายเดือนแต่ความเสี่ยงรหัสผ่านรอไม่ได้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18872" cy="74980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783080"/>
            <a:ext cx="1554480" cy="749808"/>
          </a:xfrm>
          <a:prstGeom prst="round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783080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874519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ปิดความเสี่ยงเร่งด่วนบนระบบเดิม · สัปดาห์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5856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เปลี่ยนรหัสผ่านทุกบัญชี · แยกบัญชีรายบุคคล · ลบรหัสออกจากเอกสาร · ปิดฟังก์ชันกลุ่ม B ก่อนย้าย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70048"/>
            <a:ext cx="118872" cy="74980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670048"/>
            <a:ext cx="1554480" cy="749808"/>
          </a:xfrm>
          <a:prstGeom prst="round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70048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2670048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8920" y="2761488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เตรียมจุดย้อนกลับ · สัปดาห์ 3–6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14553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สำรองข้อมูล + ซ้อมกู้คืนให้ผ่านก่อนแตะข้อมูล · เฝ้าระวังพื้นฐาน · ตัดสินใจเรื่อง Feed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57015"/>
            <a:ext cx="118872" cy="74980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3557015"/>
            <a:ext cx="1554480" cy="749808"/>
          </a:xfrm>
          <a:prstGeom prst="round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57015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3557015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3648456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เตรียมย้ายแพลตฟอร์ม · สัปดาห์ 7–16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032504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เขียน SP ใหม่บน PostgreSQL · ย้ายข้อมูล · กระทบยอดทุกบาท · ยกประวัติธุรกรรมเดิมไปด้วย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43983"/>
            <a:ext cx="118872" cy="74980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4443983"/>
            <a:ext cx="1554480" cy="749808"/>
          </a:xfrm>
          <a:prstGeom prst="round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443983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4443983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535423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รันคู่ขนานและ Cutover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4919471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เทียบผลเก่า–ใหม่ 1 รอบเต็ม · UAT · เกณฑ์ผ่าน/ไม่ผ่าน + แผนย้อนกลับ · เลือกช่วงที่คนมาถอนน้อย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330951"/>
            <a:ext cx="118872" cy="74980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5330951"/>
            <a:ext cx="1554480" cy="749808"/>
          </a:xfrm>
          <a:prstGeom prst="round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30951"/>
            <a:ext cx="155448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14600" y="5330951"/>
            <a:ext cx="9125712" cy="74980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88920" y="5422391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แผนปิดระบบ · รอกำหนดวัน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88920" y="580644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กำหนดวันปิด · จัดการยอดที่ไม่มีผู้มาถอน · เก็บข้อมูลถาวร · ปลดระวางระบบ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สิ่งที่ต้องการจากเจ้าของระบบ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5 ข้อที่อยากได้คำตอบวันนี้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18872" cy="84124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ย้ายแพลตฟอร์มคุ้มกับความเสี่ยงหรือไม่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17904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ระบบกำลังจะปิดอยู่แล้ว — ถ้าวันปิดใกล้พอ อาจคงระบบเดิมจนถึงวันปิด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04288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304288"/>
            <a:ext cx="118872" cy="84124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231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มีกำหนดวันปิดระบบหรือยัง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50592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เป็นตัวกำหนดคำตอบข้อบน และว่าจะลงทุนแค่ไหน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36976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36976"/>
            <a:ext cx="118872" cy="84124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ปลายทางของ Feed ยังต้องการข้อมูลไหม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38328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ถ้าไม่ ตัดได้ทั้งชุด และไม่ต้องยกไปแพลตฟอร์มใหม่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9664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169664"/>
            <a:ext cx="118872" cy="84124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88536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เกณฑ์การกระทบยอดที่ยอมรับได้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315968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ต้องตรงทุกบาท หรือมีเกณฑ์ผ่อนผัน — ใช้เป็นเกณฑ์ cutover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02352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102352"/>
            <a:ext cx="118872" cy="84124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2122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เหลือผู้ถือกี่ราย ยอดคงค้างเท่าไร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48656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ใช้ประเมินว่าต้องรันระบบอีกนานเท่าใด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6053328"/>
            <a:ext cx="11091672" cy="566928"/>
          </a:xfrm>
          <a:prstGeom prst="roundRect">
            <a:avLst/>
          </a:prstGeom>
          <a:solidFill>
            <a:srgbClr val="DDEFE2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605332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6"/>
                </a:solidFill>
                <a:latin typeface="Tahoma"/>
                <a:cs typeface="Tahoma"/>
                <a:ea typeface="Tahoma"/>
              </a:rPr>
              <a:t>ขั้นถัดไป: </a:t>
            </a:r>
            <a:r>
              <a:rPr sz="13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เริ่ม Phase 1 บนระบบเดิมได้ทันที ไม่ต้องรอคำตอบข้ออื่นและไม่ต้องรอการย้ายแพลตฟอร์ม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ขอบคุณครับ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C9CC8"/>
                </a:solidFill>
                <a:latin typeface="Tahoma"/>
                <a:cs typeface="Tahoma"/>
                <a:ea typeface="Tahoma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8C2CE"/>
                </a:solidFill>
                <a:latin typeface="Tahoma"/>
                <a:cs typeface="Tahoma"/>
                <a:ea typeface="Tahoma"/>
              </a:rPr>
              <a:t>ระบบงานสลากธนโชค · หารือกับเจ้าของระบบ · ฉบับร่างเพื่อหารือ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