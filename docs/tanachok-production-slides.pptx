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0"/>
            <a:ext cx="12191695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A8D6"/>
                </a:solidFill>
                <a:latin typeface="Tahoma"/>
                <a:cs typeface="Tahoma"/>
                <a:ea typeface="Tahoma"/>
              </a:rPr>
              <a:t>ธนาคารออมสิน · GSB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103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>
                <a:solidFill>
                  <a:srgbClr val="EC9CC8"/>
                </a:solidFill>
                <a:latin typeface="Tahoma"/>
                <a:cs typeface="Tahoma"/>
                <a:ea typeface="Tahoma"/>
              </a:rPr>
              <a:t>ความพร้อมขึ้นใช้งาน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8C2CE"/>
                </a:solidFill>
                <a:latin typeface="Tahoma"/>
                <a:cs typeface="Tahoma"/>
                <a:ea typeface="Tahoma"/>
              </a:rPr>
              <a:t>ระบบงานสลากธนโชค · หารือกับเจ้าของระบบ · ฉบับร่างเพื่อหารือ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วาระการประชุม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10058400" cy="484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1. ระบบธนโชคทำอะไร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ทบทวนขอบเขตงานร่วมกัน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2. สิ่งที่ดำเนินการไปแล้ว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ความคืบหน้าการย้ายระบบ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3. ภาพรวมระบบปัจจุบัน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โครงสร้างและจุดที่ต้องระวัง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4. ประเมินความพร้อม Production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ด้านไหนพร้อม ด้านไหนยังขาด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5. ความเสี่ยงที่ต้องรีบปิด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3 เรื่องเร่งด่วน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6. เปรียบเทียบ AS IS → TO BE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ปัจจุบัน vs เป้าหมาย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7. แผนงาน 4 เฟส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ทำอะไร เมื่อไหร่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8. ตัวอย่างหน้าจอที่เสนอ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ให้เห็นภาพก่อนตัดสินใจ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9. สิ่งที่ต้องการให้ตัดสินใจ</a:t>
            </a:r>
            <a:r>
              <a:rPr sz="17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 — 5 ข้อที่ต้องได้คำตอบวันนี้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ภาพรวมธุรกิจ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ระบบธนโชคดูแลงานอะไรบ้าง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เป็นระบบที่เกี่ยวข้องกับเงินและสิทธิ์ของลูกค้าโดยตรง ความถูกต้องและการตรวจสอบย้อนหลังจึงสำคัญที่สุด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ผู้ถือสลาก / ลูกค้า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PDCUST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ข้อมูลลูกค้าและสิทธิ์การถือสลาก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0728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0728" y="214884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6760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ทะเบียนสลาก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6760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PDMAST · PDXREF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6760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ทะเบียนหลักและการอ้างอิงข้าม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2816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214884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8847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รายการธุรกรรม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7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PDTRN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8847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การซื้อ ฝาก ถอน โอนสลาก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703320"/>
            <a:ext cx="118872" cy="13716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384962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การออกและจ่ายรางวัล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27024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PDRPZ · PRIZEAMT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61772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ตรวจรางวัลและคำนวณเงินรางวัล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00728" y="370332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0728" y="370332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6760" y="384962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งานบริหารสาขา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6760" y="427024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ปิด/ย้ายสาขา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6760" y="461772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ย้ายข้อมูลลูกค้าไปสาขาปลายทาง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2816" y="370332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52816" y="370332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8847" y="384962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ส่งข้อมูลออก (Feed)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8847" y="427024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SFTP Feed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8847" y="461772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ส่งข้อมูลให้ระบบปลายทางตามรอบ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ความคืบหน้า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สิ่งที่ดำเนินการไปแล้ว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เหตุผลที่ต้องย้ายระบบ: ระบบปฏิบัติการและฐานข้อมูลเดิมหมดระยะการสนับสนุน (End of Support)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1069848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5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ย้ายขึ้นเครื่องใหม่สำเร็จ</a:t>
            </a:r>
            <a:r>
              <a:rPr sz="15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Web Server และ Database Server เป็น Windows Server 2019 ทั้งคู่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5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ติดตั้งฐานข้อมูลใหม่แล้ว</a:t>
            </a:r>
            <a:r>
              <a:rPr sz="15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MS SQL Server 2019 พร้อมใช้งาน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5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ทดสอบกู้คืนข้อมูลผ่าน</a:t>
            </a:r>
            <a:r>
              <a:rPr sz="15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นำข้อมูลสำรองกลับคืนได้สำเร็จตอนย้ายระบบ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5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ติดตั้งระบบงานบนเครื่องใหม่ได้</a:t>
            </a:r>
            <a:r>
              <a:rPr sz="15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แก้ปัญหาการติดตั้งจนใช้งานได้เมื่อ พ.ย. 2566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EC008C"/>
                </a:solidFill>
                <a:latin typeface="Tahoma"/>
                <a:cs typeface="Tahoma"/>
                <a:ea typeface="Tahoma"/>
              </a:rPr>
              <a:t>•  </a:t>
            </a:r>
            <a:r>
              <a:rPr sz="15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งานส่งข้อมูลออก (Feed) ทำได้มาตรฐาน</a:t>
            </a:r>
            <a:r>
              <a:rPr sz="15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มีสคริปต์ติดตั้งอัตโนมัติ ทำซ้ำได้ พร้อมชุดทดสอบ TC-01 ถึง TC-09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สถาปัตยกรรม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โครงสร้างระบบปัจจุบัน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โครงสร้างแบบ 2 ชั้น: เครื่องให้บริการหน้าจอ 1 เครื่อง และเครื่องฐานข้อมูล 1 เครื่อง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Web Application Server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Windows Server 2019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ให้บริการหน้าจอผู้ใช้งาน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0728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0728" y="214884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6760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Database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6760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Windows Server 2019 · MS SQL 2019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6760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เก็บข้อมูลและตรรกะหลัก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2816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214884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8847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การส่งข้อมูลออก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7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SFTP Feed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8847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ส่งข้อมูลให้ระบบปลายทางตามรอบ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3931920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จุดที่ต้องระวัง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343400"/>
            <a:ext cx="11091672" cy="1600200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8056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• </a:t>
            </a:r>
            <a:r>
              <a:rPr sz="13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มีเครื่องละ 1 ตัวเท่านั้น</a:t>
            </a: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ไม่มีเครื่องสำรอง หากเครื่องเสียหายระบบจะหยุดจนกว่าจะกู้เสร็จ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• </a:t>
            </a:r>
            <a:r>
              <a:rPr sz="13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ตรรกะสำคัญอยู่ในฐานข้อมูล</a:t>
            </a: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แก้ไขที่เครื่องโดยตรง ไม่มีการเก็บประวัติว่าใครแก้อะไรเมื่อใด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• </a:t>
            </a:r>
            <a:r>
              <a:rPr sz="13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โปรแกรมพื้นฐานหมดการสนับสนุน</a:t>
            </a: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 — ไม่มีการออกแพตช์ความปลอดภัยให้อีกแล้ว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Production Readiness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ประเมินความพร้อมขึ้น Production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ประเมิน 16 ด้าน — พร้อม 3 · บางส่วน 7 · ยังไม่มี 6 (แสดง 10 ด้านหลัก)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017520" cy="38404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1737360"/>
            <a:ext cx="1371600" cy="38404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66360" y="1737360"/>
            <a:ext cx="6473952" cy="38404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73936"/>
            <a:ext cx="274320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ด้าน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1773936"/>
            <a:ext cx="1097280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สถานะ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0" y="1773936"/>
            <a:ext cx="6199632" cy="3291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สิ่งที่ต้องทำเพื่อขึ้น Production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121408"/>
            <a:ext cx="301752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0" y="2121408"/>
            <a:ext cx="137160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66360" y="2121408"/>
            <a:ext cx="6473952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2139696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เครื่องและระบบปฏิบัติการ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22191" y="2177643"/>
            <a:ext cx="1042416" cy="274320"/>
          </a:xfrm>
          <a:prstGeom prst="roundRect">
            <a:avLst/>
          </a:prstGeom>
          <a:solidFill>
            <a:srgbClr val="DDEFE2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2177643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6"/>
                </a:solidFill>
                <a:latin typeface="Tahoma"/>
                <a:cs typeface="Tahoma"/>
                <a:ea typeface="Tahoma"/>
              </a:rPr>
              <a:t>พร้อม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03520" y="2139696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ย้ายขึ้น Windows Server 2019 เรียบร้อยแล้ว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2508199"/>
            <a:ext cx="301752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0" y="2508199"/>
            <a:ext cx="137160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2508199"/>
            <a:ext cx="6473952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2526487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ฐานข้อมูล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22191" y="2564434"/>
            <a:ext cx="1042416" cy="274320"/>
          </a:xfrm>
          <a:prstGeom prst="roundRect">
            <a:avLst/>
          </a:prstGeom>
          <a:solidFill>
            <a:srgbClr val="DDEFE2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22191" y="2564434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6"/>
                </a:solidFill>
                <a:latin typeface="Tahoma"/>
                <a:cs typeface="Tahoma"/>
                <a:ea typeface="Tahoma"/>
              </a:rPr>
              <a:t>พร้อม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526487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MS SQL Server 2019 ติดตั้งและกู้คืนข้อมูลผ่านแล้ว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894990"/>
            <a:ext cx="301752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0" y="2894990"/>
            <a:ext cx="137160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66360" y="2894990"/>
            <a:ext cx="6473952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2913278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การส่งข้อมูลออก (Feed)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22191" y="2951226"/>
            <a:ext cx="1042416" cy="274320"/>
          </a:xfrm>
          <a:prstGeom prst="roundRect">
            <a:avLst/>
          </a:prstGeom>
          <a:solidFill>
            <a:srgbClr val="DDEFE2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22191" y="2951226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6"/>
                </a:solidFill>
                <a:latin typeface="Tahoma"/>
                <a:cs typeface="Tahoma"/>
                <a:ea typeface="Tahoma"/>
              </a:rPr>
              <a:t>พร้อม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2913278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สคริปต์ติดตั้งอัตโนมัติ + ชุดทดสอบครบ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281781"/>
            <a:ext cx="301752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0" y="3281781"/>
            <a:ext cx="137160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166360" y="3281781"/>
            <a:ext cx="6473952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5800" y="3300069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การจัดการรหัสผ่าน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822191" y="3338017"/>
            <a:ext cx="1042416" cy="274320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822191" y="3338017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ยังไม่มี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03520" y="3300069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ใช้รหัสผ่านชุดเดียวกันทุกเครื่อง และเก็บไว้ในเอกสาร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3668572"/>
            <a:ext cx="301752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0" y="3668572"/>
            <a:ext cx="137160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166360" y="3668572"/>
            <a:ext cx="6473952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85800" y="3686860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โปรแกรมพื้นฐาน (Runtime)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822191" y="3724808"/>
            <a:ext cx="1042416" cy="274320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822191" y="3724808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ยังไม่มี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03520" y="3686860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หมดระยะสนับสนุน ไม่มีแพตช์ความปลอดภัย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4055364"/>
            <a:ext cx="301752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657600" y="4055364"/>
            <a:ext cx="137160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166360" y="4055364"/>
            <a:ext cx="6473952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4073652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เครื่องสำรอง / ความต่อเนื่อง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822191" y="4111599"/>
            <a:ext cx="1042416" cy="274320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822191" y="4111599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ยังไม่มี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03520" y="4073652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ยังไม่มีเครื่องสำรอง และยังไม่ได้ตกลงเวลากู้คืน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48640" y="4442155"/>
            <a:ext cx="301752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57600" y="4442155"/>
            <a:ext cx="137160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66360" y="4442155"/>
            <a:ext cx="6473952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4460443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การเฝ้าระวังและแจ้งเตือน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22191" y="4498390"/>
            <a:ext cx="1042416" cy="274320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22191" y="4498390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ยังไม่มี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03520" y="4460443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ระบบล่มหรือ Feed ไม่ทำงานจะรู้ก็ต่อเมื่อผู้ใช้แจ้ง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8640" y="4828946"/>
            <a:ext cx="301752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57600" y="4828946"/>
            <a:ext cx="137160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166360" y="4828946"/>
            <a:ext cx="6473952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85800" y="4847234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การสำรองข้อมูล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822191" y="4885182"/>
            <a:ext cx="1042416" cy="274320"/>
          </a:xfrm>
          <a:prstGeom prst="roundRect">
            <a:avLst/>
          </a:prstGeom>
          <a:solidFill>
            <a:srgbClr val="F7ECC8"/>
          </a:solidFill>
          <a:ln w="12700">
            <a:solidFill>
              <a:srgbClr val="B98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822191" y="4885182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บางส่วน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03520" y="4847234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เคยทดสอบตอนย้ายระบบ ยังไม่มีตารางสำรองและการซ้อมกู้คืนประจำ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" y="5215737"/>
            <a:ext cx="301752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3657600" y="5215737"/>
            <a:ext cx="1371600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166360" y="5215737"/>
            <a:ext cx="6473952" cy="386791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" y="5234025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สิทธิ์การเข้าถึงระบบ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822191" y="5271973"/>
            <a:ext cx="1042416" cy="274320"/>
          </a:xfrm>
          <a:prstGeom prst="roundRect">
            <a:avLst/>
          </a:prstGeom>
          <a:solidFill>
            <a:srgbClr val="F7ECC8"/>
          </a:solidFill>
          <a:ln w="12700">
            <a:solidFill>
              <a:srgbClr val="B98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822191" y="5271973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บางส่วน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03520" y="5234025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ยังใช้บัญชีร่วมกัน ควรแยกเป็นรายบุคคล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48640" y="5602528"/>
            <a:ext cx="301752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657600" y="5602528"/>
            <a:ext cx="1371600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166360" y="5602528"/>
            <a:ext cx="6473952" cy="386791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85800" y="5620816"/>
            <a:ext cx="2743200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การนำระบบขึ้นใช้งาน (Deploy)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3822191" y="5658764"/>
            <a:ext cx="1042416" cy="274320"/>
          </a:xfrm>
          <a:prstGeom prst="roundRect">
            <a:avLst/>
          </a:prstGeom>
          <a:solidFill>
            <a:srgbClr val="F7ECC8"/>
          </a:solidFill>
          <a:ln w="12700">
            <a:solidFill>
              <a:srgbClr val="B98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822191" y="5658764"/>
            <a:ext cx="1042416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บางส่วน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303520" y="5620816"/>
            <a:ext cx="6199632" cy="38679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มีคู่มือแต่ทำมือ ย้อนกลับเวอร์ชันเดิมได้ยาก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548640" y="6144768"/>
            <a:ext cx="1234440" cy="274320"/>
          </a:xfrm>
          <a:prstGeom prst="roundRect">
            <a:avLst/>
          </a:prstGeom>
          <a:solidFill>
            <a:srgbClr val="DDEFE2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48640" y="6144768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6"/>
                </a:solidFill>
                <a:latin typeface="Tahoma"/>
                <a:cs typeface="Tahoma"/>
                <a:ea typeface="Tahoma"/>
              </a:rPr>
              <a:t>พร้อม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920240" y="6144768"/>
            <a:ext cx="1234440" cy="274320"/>
          </a:xfrm>
          <a:prstGeom prst="roundRect">
            <a:avLst/>
          </a:prstGeom>
          <a:solidFill>
            <a:srgbClr val="F7ECC8"/>
          </a:solidFill>
          <a:ln w="12700">
            <a:solidFill>
              <a:srgbClr val="B9861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920240" y="6144768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98612"/>
                </a:solidFill>
                <a:latin typeface="Tahoma"/>
                <a:cs typeface="Tahoma"/>
                <a:ea typeface="Tahoma"/>
              </a:rPr>
              <a:t>บางส่วน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91840" y="6144768"/>
            <a:ext cx="1234440" cy="274320"/>
          </a:xfrm>
          <a:prstGeom prst="roundRect">
            <a:avLst/>
          </a:prstGeom>
          <a:solidFill>
            <a:srgbClr val="F6E0E1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291840" y="6144768"/>
            <a:ext cx="123444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ยังไม่มี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ความเสี่ยง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3 เรื่องที่ต้องรีบปิดก่อน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25880"/>
            <a:ext cx="11091672" cy="157276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25880"/>
            <a:ext cx="128016" cy="1572768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680" y="1618488"/>
            <a:ext cx="566928" cy="566928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18488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472184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รหัสผ่านเริ่มต้นถูกใช้ซ้ำทุกเครื่อง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92807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บัญชีผู้ดูแลของทั้งสองเครื่องใช้รหัสผ่านชุดเดียวกัน และถูกบันทึกไว้ในเอกสารที่เปิดอ่านได้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2386584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ผู้ที่เข้าถึงเอกสารได้ = เข้าถึงข้อมูลลูกค้าและรายการจ่ายรางวัลได้ทันที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026664"/>
            <a:ext cx="11091672" cy="157276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3026664"/>
            <a:ext cx="128016" cy="1572768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3319272"/>
            <a:ext cx="566928" cy="566928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319272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172968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โปรแกรมพื้นฐานหมดการสนับสนุน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593592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ตัวรันโปรแกรมและตัวให้บริการเว็บที่ใช้อยู่ ไม่มีผู้ผลิตดูแลและออกแพตช์ให้แล้ว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087368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ช่องโหว่ที่พบใหม่จะไม่มีทางแก้ และระบบจะไม่ผ่านการสแกนตามมาตรฐานธนาคาร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27448"/>
            <a:ext cx="11091672" cy="1572768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B13A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727448"/>
            <a:ext cx="128016" cy="1572768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8680" y="5020056"/>
            <a:ext cx="566928" cy="566928"/>
          </a:xfrm>
          <a:prstGeom prst="round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020056"/>
            <a:ext cx="566928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873752"/>
            <a:ext cx="96926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ไม่มีเครื่องสำรองและยังไม่ได้ตกลงเวลากู้คืน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5294376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มีเครื่องละ 1 ตัว หากเสียหายต้องกู้คืนใหม่ทั้งหมด โดยยังไม่มีข้อตกลงว่าต้องเสร็จภายในกี่ชั่วโมง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788152"/>
            <a:ext cx="96926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B13A3F"/>
                </a:solidFill>
                <a:latin typeface="Tahoma"/>
                <a:cs typeface="Tahoma"/>
                <a:ea typeface="Tahoma"/>
              </a:rPr>
              <a:t>ผลกระทบ: </a:t>
            </a:r>
            <a:r>
              <a:rPr sz="12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หากล่มช่วงออกรางวัลหรือจ่ายรางวัล จะกระทบลูกค้าและชื่อเสียงโดยตรง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เทียบสถานะ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จากปัจจุบัน สู่เป้าหมาย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2194560" cy="457200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834640" y="1371600"/>
            <a:ext cx="4297680" cy="457200"/>
          </a:xfrm>
          <a:prstGeom prst="rect">
            <a:avLst/>
          </a:prstGeom>
          <a:solidFill>
            <a:srgbClr val="B13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223760" y="1371600"/>
            <a:ext cx="4416552" cy="4572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444752"/>
            <a:ext cx="192024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ด้าน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1444752"/>
            <a:ext cx="40233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AS IS — ปัจจุบัน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60920" y="1444752"/>
            <a:ext cx="4142232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TO BE — เป้าหมาย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1828800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1828800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23760" y="1828800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1856231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ความปลอดภัยบัญชี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1856231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รหัสผ่านชุดเดียวกัน เก็บในเอกสาร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1856231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บัญชีรายบุคคล + เก็บรหัสในระบบที่ควบคุมสิทธิ์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404872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34640" y="2404872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23760" y="2404872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432303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โปรแกรมพื้นฐาน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432303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หมดระยะการสนับสนุน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432303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รุ่นที่ยังได้รับแพตช์ความปลอดภัย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980944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34640" y="2980944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223760" y="2980944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008375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ความต่อเนื่อง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71800" y="3008375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เครื่องเดียว ไม่มีสำรอง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60920" y="3008375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มีเครื่องสำรอง ตามเวลากู้คืนที่ตกลงกัน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557015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834640" y="3557015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223760" y="3557015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3584447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การสำรองข้อมูล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71800" y="3584447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ทดสอบครั้งเดียวตอนย้ายระบบ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60920" y="3584447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สำรองตามตาราง + ซ้อมกู้คืนประจำ มีบันทึกผล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133087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834640" y="4133087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223760" y="4133087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5800" y="4160520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การเฝ้าระวัง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71800" y="4160520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ไม่มี รู้เมื่อผู้ใช้แจ้ง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60920" y="4160520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เฝ้าระวังอัตโนมัติ + แจ้งเตือนผู้รับผิดชอบ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709159"/>
            <a:ext cx="219456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834640" y="4709159"/>
            <a:ext cx="4297680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223760" y="4709159"/>
            <a:ext cx="4416552" cy="576072"/>
          </a:xfrm>
          <a:prstGeom prst="rect">
            <a:avLst/>
          </a:prstGeom>
          <a:solidFill>
            <a:srgbClr val="F4F1F6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5800" y="4736592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การแก้ไขระบบ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736592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แก้ที่เครื่อง ไม่มีประวัติ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360920" y="4736592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เก็บประวัติทุกการแก้ไข ย้อนกลับได้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5285231"/>
            <a:ext cx="219456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834640" y="5285231"/>
            <a:ext cx="4297680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223760" y="5285231"/>
            <a:ext cx="4416552" cy="57607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B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5800" y="5312664"/>
            <a:ext cx="193852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การส่งข้อมูลออก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71800" y="5312664"/>
            <a:ext cx="4041648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ตั้งเวลาทำมือ ไม่รู้ผลรัน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0920" y="5312664"/>
            <a:ext cx="4160520" cy="57607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ตั้งเวลาอัตโนมัติ + แจ้งเตือนเมื่อไม่สำเร็จ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แผนงาน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แผนงานที่เสนอ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เรียงตามความเร่งด่วน เริ่มจากงานที่ใช้เวลาน้อยแต่ลดความเสี่ยงได้มากที่สุด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783080"/>
            <a:ext cx="118872" cy="96012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22960" y="1783080"/>
            <a:ext cx="1554480" cy="960120"/>
          </a:xfrm>
          <a:prstGeom prst="round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78308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14600" y="1783080"/>
            <a:ext cx="9125712" cy="96012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1874519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ปิดความเสี่ยงเร่งด่วน · สัปดาห์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225856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เปลี่ยนรหัสผ่านทุกบัญชี · แยกบัญชีรายบุคคล · ลบรหัสออกจากเอกสาร · จำกัดการเข้าถึงเครือข่าย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880360"/>
            <a:ext cx="118872" cy="96012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880360"/>
            <a:ext cx="1554480" cy="960120"/>
          </a:xfrm>
          <a:prstGeom prst="round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88036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14600" y="2880360"/>
            <a:ext cx="9125712" cy="96012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88920" y="2971800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ทำให้ดูแลได้จริง · สัปดาห์ 3–6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88920" y="335584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ตั้งตารางสำรองข้อมูล · ซ้อมกู้คืน 1 ครั้ง · ติดตั้งการเฝ้าระวังและแจ้งเตือน · ปิดงานย้ายที่ค้าง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977639"/>
            <a:ext cx="118872" cy="96012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" y="3977639"/>
            <a:ext cx="1554480" cy="960120"/>
          </a:xfrm>
          <a:prstGeom prst="round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977639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14600" y="3977639"/>
            <a:ext cx="9125712" cy="96012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88920" y="4069079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คุมการเปลี่ยนแปลง · สัปดาห์ 7–12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453127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เก็บโค้ดและตรรกะฐานข้อมูลเข้าระบบควบคุมเวอร์ชัน · ขั้นตอน deploy มาตรฐาน · เอกสารรวมศูนย์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074920"/>
            <a:ext cx="118872" cy="9601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22960" y="5074920"/>
            <a:ext cx="1554480" cy="960120"/>
          </a:xfrm>
          <a:prstGeom prst="round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5074920"/>
            <a:ext cx="155448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Phase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514600" y="5074920"/>
            <a:ext cx="9125712" cy="96012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D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88920" y="5166359"/>
            <a:ext cx="86868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ยกระดับโปรแกรมพื้นฐาน · ประเมินหลัง Phase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88920" y="5550408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เปรียบเทียบทางเลือก: ยกระดับระบบเดิม หรือ พัฒนาใหม่ · เสนอเจ้าของระบบตัดสินใจ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ตัวอย่างหน้าจอที่เสนอ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1 · ภาพรวมระบบ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ผู้ดูแลเห็นตัวเลขสำคัญ สถานะงานส่งข้อมูล และรายการล่าสุดในหน้าเดียว</a:t>
            </a:r>
          </a:p>
        </p:txBody>
      </p:sp>
      <p:pic>
        <p:nvPicPr>
          <p:cNvPr id="8" name="Picture 7" descr="screen1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ตัวอย่างหน้าจอที่เสนอ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2 · ค้นหาผู้ถือสลาก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ค้นด้วยเลขที่สลาก เลขบัตร หรือชื่อ แล้วเห็นรายละเอียดและประวัติธุรกรรมครบในหน้าเดียว</a:t>
            </a:r>
          </a:p>
        </p:txBody>
      </p:sp>
      <p:pic>
        <p:nvPicPr>
          <p:cNvPr id="8" name="Picture 7" descr="screen2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ตัวอย่างหน้าจอที่เสนอ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หน้าจอ 3 · การส่งข้อมูลออก (SFTP Feed)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091672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เห็นผลการส่งทุกรอบ รู้ทันทีเมื่อไม่สำเร็จ ส่งซ้ำได้เอง และตั้งการแจ้งเตือนได้</a:t>
            </a:r>
          </a:p>
        </p:txBody>
      </p:sp>
      <p:pic>
        <p:nvPicPr>
          <p:cNvPr id="8" name="Picture 7" descr="screen3-fe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27632"/>
            <a:ext cx="11091672" cy="693229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6355080"/>
            <a:ext cx="1109167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ภาพร่างเพื่อใช้หารือ · ข้อมูลบนหน้าจอเป็นตัวอย่างสมมติ ไม่ใช่ข้อมูลจริงของลูกค้า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ตัวอย่างให้เห็นภาพ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สรุปหน้าจอที่เสนอทั้งหมด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ภาพร่างหน้าจอเพื่อใช้หารือ — ยังไม่ใช่ข้อสรุป ปรับได้ตามความเห็นของเจ้าของระบบ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หน้าภาพรวม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Dashboard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สรุปยอดสลาก ธุรกรรมวันนี้ สถานะงาน Feed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0728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0728" y="214884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6760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ค้นหาผู้ถือสลาก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6760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ค้นหา/ตรวจสอบ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6760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ค้นด้วยเลขที่สลาก เลขบัตร หรือชื่อลูกค้า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2816" y="214884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52816" y="2148840"/>
            <a:ext cx="118872" cy="1371600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8847" y="229514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รายละเอียดสลาก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847" y="271576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ทะเบียนสลาก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08847" y="306324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ข้อมูลสลาก ประวัติธุรกรรม และผลการตรวจรางวัล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370332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3703320"/>
            <a:ext cx="118872" cy="137160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" y="384962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ตรวจและจ่ายรางวัล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427024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งวดรางวัล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461772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ตรวจรางวัลตามงวด และบันทึกการจ่าย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00728" y="370332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00728" y="3703320"/>
            <a:ext cx="118872" cy="137160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56760" y="384962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งานปิด/ย้ายสาขา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6760" y="427024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บริหารสาขา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6760" y="461772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เลือกสาขาต้นทาง–ปลายทาง ตรวจสอบก่อนยืนยัน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52816" y="3703320"/>
            <a:ext cx="3587496" cy="1371600"/>
          </a:xfrm>
          <a:prstGeom prst="roundRect">
            <a:avLst/>
          </a:prstGeom>
          <a:solidFill>
            <a:srgbClr val="F4F1F6"/>
          </a:solidFill>
          <a:ln w="12700">
            <a:solidFill>
              <a:srgbClr val="D9CE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052816" y="3703320"/>
            <a:ext cx="118872" cy="1371600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08847" y="3849624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ติดตามการส่งข้อมูล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8847" y="4270248"/>
            <a:ext cx="3221736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3006A"/>
                </a:solidFill>
                <a:latin typeface="Tahoma"/>
                <a:cs typeface="Tahoma"/>
                <a:ea typeface="Tahoma"/>
              </a:rPr>
              <a:t>SFTP Feed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8847" y="4617720"/>
            <a:ext cx="322173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สถานะรอบล่าสุด ผลสำเร็จ/ล้มเหลว และปุ่มส่งซ้ำ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64008"/>
          </a:xfrm>
          <a:prstGeom prst="rect">
            <a:avLst/>
          </a:prstGeom>
          <a:solidFill>
            <a:srgbClr val="B300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D6EC"/>
                </a:solidFill>
                <a:latin typeface="Tahoma"/>
                <a:cs typeface="Tahoma"/>
                <a:ea typeface="Tahoma"/>
              </a:rPr>
              <a:t>สิ่งที่ต้องการจากเจ้าของระบบ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20624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5 ข้อที่อยากได้คำตอบวันนี้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371600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371600"/>
            <a:ext cx="118872" cy="84124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90472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ระบบหยุดได้นานแค่ไหน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1517904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หากระบบล่ม ยอมให้ใช้งานไม่ได้กี่ชั่วโมงจึงจะยังรับได้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304288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304288"/>
            <a:ext cx="118872" cy="841248"/>
          </a:xfrm>
          <a:prstGeom prst="rect">
            <a:avLst/>
          </a:prstGeom>
          <a:solidFill>
            <a:srgbClr val="234D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42316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ข้อมูลหายได้ถึงจุดใด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2450592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ยอมให้ข้อมูลย้อนหลังหายได้มากที่สุดกี่ชั่วโมง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36976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36976"/>
            <a:ext cx="118872" cy="84124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355848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ช่วงเวลาที่ห้ามหยุดระบบ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383280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ช่วงออกรางวัล/จ่ายรางวัล หรือช่วงอื่นที่ห้ามกระทบ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169664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169664"/>
            <a:ext cx="118872" cy="841248"/>
          </a:xfrm>
          <a:prstGeom prst="rect">
            <a:avLst/>
          </a:prstGeom>
          <a:solidFill>
            <a:srgbClr val="B986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88536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ผู้ดูแลระบบหลังใช้งานจริง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4315968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ใครรับผิดชอบ และให้บริการช่วงเวลาใด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102352"/>
            <a:ext cx="11091672" cy="841248"/>
          </a:xfrm>
          <a:prstGeom prst="roundRect">
            <a:avLst/>
          </a:prstGeom>
          <a:solidFill>
            <a:srgbClr val="F4F1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102352"/>
            <a:ext cx="118872" cy="84124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221224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แนวทางระยะยาว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0" y="5248656"/>
            <a:ext cx="5760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ยกระดับระบบเดิม หรือ พัฒนาใหม่ — เพื่อวางแผน Phase 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6053328"/>
            <a:ext cx="11091672" cy="566928"/>
          </a:xfrm>
          <a:prstGeom prst="roundRect">
            <a:avLst/>
          </a:prstGeom>
          <a:solidFill>
            <a:srgbClr val="DDEFE2"/>
          </a:solidFill>
          <a:ln w="12700">
            <a:solidFill>
              <a:srgbClr val="2E7D4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6053328"/>
            <a:ext cx="1051560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6"/>
                </a:solidFill>
                <a:latin typeface="Tahoma"/>
                <a:cs typeface="Tahoma"/>
                <a:ea typeface="Tahoma"/>
              </a:rPr>
              <a:t>ขั้นถัดไป: </a:t>
            </a:r>
            <a:r>
              <a:rPr sz="1300" b="0">
                <a:solidFill>
                  <a:srgbClr val="222B36"/>
                </a:solidFill>
                <a:latin typeface="Tahoma"/>
                <a:cs typeface="Tahoma"/>
                <a:ea typeface="Tahoma"/>
              </a:rPr>
              <a:t>เริ่ม Phase 1 ทันทีที่ได้รับการยืนยัน — เป็นงานที่ใช้เวลาน้อยแต่ลดความเสี่ยงได้มากที่สุด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TANACHOK — ระบบงานสลากธนโชค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73952"/>
            <a:ext cx="822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672"/>
                </a:solidFill>
                <a:latin typeface="Tahoma"/>
                <a:cs typeface="Tahoma"/>
                <a:ea typeface="Tahoma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22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109728"/>
          </a:xfrm>
          <a:prstGeom prst="rect">
            <a:avLst/>
          </a:prstGeom>
          <a:solidFill>
            <a:srgbClr val="EC0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Tahoma"/>
                <a:cs typeface="Tahoma"/>
                <a:ea typeface="Tahoma"/>
              </a:rPr>
              <a:t>ขอบคุณครับ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400" b="1">
                <a:solidFill>
                  <a:srgbClr val="EC9CC8"/>
                </a:solidFill>
                <a:latin typeface="Tahoma"/>
                <a:cs typeface="Tahoma"/>
                <a:ea typeface="Tahoma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720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B8C2CE"/>
                </a:solidFill>
                <a:latin typeface="Tahoma"/>
                <a:cs typeface="Tahoma"/>
                <a:ea typeface="Tahoma"/>
              </a:rPr>
              <a:t>ระบบงานสลากธนโชค · หารือกับเจ้าของระบบ · ฉบับร่างเพื่อหารือ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